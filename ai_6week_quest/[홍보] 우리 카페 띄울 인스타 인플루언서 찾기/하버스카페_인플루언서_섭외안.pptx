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하버스카페 인플루언서 섭외안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4"/>
                </a:solidFill>
                <a:latin typeface="맑은 고딕"/>
              </a:rPr>
              <a:t>성수동 · 인스타 인지도 확대 → 예산 50만원 실행안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6BE"/>
                </a:solidFill>
                <a:latin typeface="맑은 고딕"/>
              </a:rPr>
              <a:t>원천: influencers.csv · 경쟁사 분석 추천 액션 2번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맑은 고딕"/>
              </a:rPr>
              <a:t>타겟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82296" cy="137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6362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맑은 고딕"/>
              </a:rPr>
              <a:t>우리 카페 핵심 손님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836"/>
                </a:solidFill>
                <a:latin typeface="맑은 고딕"/>
              </a:rPr>
              <a:t>성수동·서울숲 25~35세 직장인·프리랜서·디자이너 · 평일 노트북 작업(콘센트·조용함) · 흑임자 라떼·디저트에 반응 · 인스타로 카페 검색·저장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1064240" cy="13716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82296" cy="137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맑은 고딕"/>
              </a:rPr>
              <a:t>캠페인 도달 타겟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836"/>
                </a:solidFill>
                <a:latin typeface="맑은 고딕"/>
              </a:rPr>
              <a:t>위 손님과 팔로워가 겹치는 '작업카페·감성/미니멀 카페·조용한 카페' 콘텐츠 소비자 → 이 타겟과 겹치는 인플루언서 우선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26280"/>
            <a:ext cx="11064240" cy="13716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82296" cy="137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7258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맑은 고딕"/>
              </a:rPr>
              <a:t>왜 이 타겟인가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9320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836"/>
                </a:solidFill>
                <a:latin typeface="맑은 고딕"/>
              </a:rPr>
              <a:t>우리 강점(조용한 작업환경 + 흑임자 시그니처)이 정확히 이 층에 소구 → 방문·저장 전환율↑, 경쟁사 약점(좌석↓·시끄러움) 공략점과 일치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맑은 고딕"/>
              </a:rPr>
              <a:t>선정 기준 — 팔로워 수 ≠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55A11"/>
                </a:solidFill>
                <a:latin typeface="맑은 고딕"/>
              </a:rPr>
              <a:t>① 브랜드 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836"/>
                </a:solidFill>
                <a:latin typeface="맑은 고딕"/>
              </a:rPr>
              <a:t>조용한 작업카페·흑임자·디저트 감성과 결이 맞는가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42032"/>
            <a:ext cx="11064240" cy="10058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791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55A11"/>
                </a:solidFill>
                <a:latin typeface="맑은 고딕"/>
              </a:rPr>
              <a:t>② 참여율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2491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836"/>
                </a:solidFill>
                <a:latin typeface="맑은 고딕"/>
              </a:rPr>
              <a:t>좋아요·댓글·저장률 — 나노·마이크로가 매크로보다 3~5배 높음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12464"/>
            <a:ext cx="11064240" cy="10058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962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55A11"/>
                </a:solidFill>
                <a:latin typeface="맑은 고딕"/>
              </a:rPr>
              <a:t>③ 타겟 일치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8953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836"/>
                </a:solidFill>
                <a:latin typeface="맑은 고딕"/>
              </a:rPr>
              <a:t>성수 직장인·프리랜서·작업 손님과 팔로워가 겹치는가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82896"/>
            <a:ext cx="11064240" cy="10058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005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55A11"/>
                </a:solidFill>
                <a:latin typeface="맑은 고딕"/>
              </a:rPr>
              <a:t>④ 예산 효율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06577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836"/>
                </a:solidFill>
                <a:latin typeface="맑은 고딕"/>
              </a:rPr>
              <a:t>게시물 단가 대비 실질 도달(팔로워×참여율)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후보 롱리스트 (10명) — 계정·팔로워·인게이지먼트율·적합도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  <a:gridCol w="1645920"/>
                <a:gridCol w="2103120"/>
                <a:gridCol w="1280160"/>
                <a:gridCol w="1097280"/>
              </a:tblGrid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계정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분야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팔로워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인게이지먼트율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적합도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단가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55A11"/>
                          </a:solidFill>
                        </a:rPr>
                        <a:t>@jakeob.diary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작업·노트북 카페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18,000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10/10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20만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55A11"/>
                          </a:solidFill>
                        </a:rPr>
                        <a:t>@quiet.coffee.kr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조용한 카페·무드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9,500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9/10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12만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55A11"/>
                          </a:solidFill>
                        </a:rPr>
                        <a:t>@minimal.mood.cafe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미니멀 감성 카페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14,000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7.2%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9/10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18만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@coffee.n.work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카페+원격근무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9/10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15만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@office.cafe.seoul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직장인 작업카페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21,000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9/10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25만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@heukimja.latte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라떼·디저트 감성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27,000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8/10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30만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@basque.everyday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바스크·치즈케이크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33,000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7/10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35만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@seongsu.cafe.day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성수 카페투어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8/10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45만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@seoul.latteart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라떼아트·커피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65,000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6/10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60만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@foodie.megang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836"/>
                          </a:solidFill>
                        </a:rPr>
                        <a:t>대형 먹방·맛집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4/10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836"/>
                          </a:solidFill>
                        </a:rPr>
                        <a:t>150만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맑은 고딕"/>
              </a:rPr>
              <a:t>✅ 최종 선정 3명 — 합계 50만원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1371600"/>
                <a:gridCol w="1188720"/>
                <a:gridCol w="1097280"/>
                <a:gridCol w="32004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핸들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분야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팔로워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참여율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단가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선정 이유</a:t>
                      </a:r>
                    </a:p>
                  </a:txBody>
                  <a:tcPr>
                    <a:solidFill>
                      <a:srgbClr val="2B4A8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C55A11"/>
                          </a:solidFill>
                        </a:rPr>
                        <a:t>@jakeob.diary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836"/>
                          </a:solidFill>
                        </a:rPr>
                        <a:t>작업·노트북 카페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18,000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20만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836"/>
                          </a:solidFill>
                        </a:rPr>
                        <a:t>'작업카페' 포지션 정확 일치·높은 참여율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C55A11"/>
                          </a:solidFill>
                        </a:rPr>
                        <a:t>@quiet.coffee.kr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836"/>
                          </a:solidFill>
                        </a:rPr>
                        <a:t>조용한 카페·무드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9,500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12만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836"/>
                          </a:solidFill>
                        </a:rPr>
                        <a:t>나노 최고 참여율·흑임자 저장 유도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C55A11"/>
                          </a:solidFill>
                        </a:rPr>
                        <a:t>@minimal.mood.cafe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836"/>
                          </a:solidFill>
                        </a:rPr>
                        <a:t>미니멀 감성 카페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14,000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7.2%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836"/>
                          </a:solidFill>
                        </a:rPr>
                        <a:t>18만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836"/>
                          </a:solidFill>
                        </a:rPr>
                        <a:t>조용·차분 무드 = 우리 인테리어 결</a:t>
                      </a:r>
                    </a:p>
                  </a:txBody>
                  <a:tcPr>
                    <a:solidFill>
                      <a:srgbClr val="FCF4E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합계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41,500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평균 7.6%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50만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실질도달 ≈ 3,150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836"/>
                </a:solidFill>
                <a:latin typeface="맑은 고딕"/>
              </a:rPr>
              <a:t>왜 이 조합? @seoul.latteart 65,000명 단독(60만·참여율 2.8%)은 예산 초과 + 실질 인게이지먼트 낮음.
선정 3명 실질도달 ≈ 3,150 vs 매크로 단독 ≈ 1,820 → 같은 예산으로 1.7배 효율 + 3개 니치 분산 노출.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맑은 고딕"/>
              </a:rPr>
              <a:t>Top 3 컨택 메시지 초안 (맞춤 DM)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600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" cy="16002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맑은 고딕"/>
              </a:rPr>
              <a:t>@jakeob.diary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12836"/>
                </a:solidFill>
                <a:latin typeface="맑은 고딕"/>
              </a:rPr>
              <a:t>안녕하세요 :) 성수동 '하버스카페'입니다. '작업일기' 피드 잘 보고 있어요 — 콘센트·1인 바석 갖춘 조용한 작업카페라 결이 잘 맞을 것 같아 연락드려요. 흑임자 라떼+바스크 세트 대접하고, 작업 브이로그(피드1+릴스1) 협업 제안드립니다. 소정의 원고료도 준비돼 있어요!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27248"/>
            <a:ext cx="11064240" cy="1600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127248"/>
            <a:ext cx="82296" cy="16002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369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맑은 고딕"/>
              </a:rPr>
              <a:t>@minimal.mood.cafe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016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12836"/>
                </a:solidFill>
                <a:latin typeface="맑은 고딕"/>
              </a:rPr>
              <a:t>안녕하세요 :) 미니멀하고 차분한 무드 피드에 반해 연락드려요. 저희 인테리어도 조용·미니멀 결이라 잘 어울릴 것 같습니다. 흑임자 라떼+바스크 세트와 함께 감성 컷 콘텐츠 협업 제안드려요. 편하실 때 회신 부탁드립니다!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82896"/>
            <a:ext cx="11064240" cy="1600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82896"/>
            <a:ext cx="82296" cy="16002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926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맑은 고딕"/>
              </a:rPr>
              <a:t>@quiet.coffee.kr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85816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12836"/>
                </a:solidFill>
                <a:latin typeface="맑은 고딕"/>
              </a:rPr>
              <a:t>안녕하세요 :) '조용한 카페' 큐레이션 늘 잘 보고 있어요. 노트북 작업 집중 잘 되는 저희 하버스카페도 딱 맞을 것 같아 연락드립니다. 흑임자 라떼+바스크 세트 대접하고, 저장 유도되는 무드 릴스 협업 제안드려요!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다음 액션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881360" cy="12344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1. DM 발송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56815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6505F"/>
                </a:solidFill>
                <a:latin typeface="맑은 고딕"/>
              </a:rPr>
              <a:t>3명에게 맞춤 DM(바터+소액 원고료) — 흑임자 라떼+바스크 세트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10881360" cy="12344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92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2. 콘텐츠 협의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374136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6505F"/>
                </a:solidFill>
                <a:latin typeface="맑은 고딕"/>
              </a:rPr>
              <a:t>피드 1 + 릴스/스토리 1 · '조용한 작업카페·흑임자 라떼' 키워드·위치 태그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881360" cy="12344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36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3. 성과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791456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6505F"/>
                </a:solidFill>
                <a:latin typeface="맑은 고딕"/>
              </a:rPr>
              <a:t>게시 2주 후 저장 수·프로필 방문·'인스타 보고 왔어요' 방문자 집계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