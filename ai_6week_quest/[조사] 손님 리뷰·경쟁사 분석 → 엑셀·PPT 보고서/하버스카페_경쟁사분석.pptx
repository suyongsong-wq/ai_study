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인스타 팔로워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성수로스터스</c:v>
                </c:pt>
                <c:pt idx="1">
                  <c:v>데일리빈</c:v>
                </c:pt>
                <c:pt idx="2">
                  <c:v>스윗아워</c:v>
                </c:pt>
                <c:pt idx="3">
                  <c:v>하버스카페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9400</c:v>
                </c:pt>
                <c:pt idx="1">
                  <c:v>3200</c:v>
                </c:pt>
                <c:pt idx="2">
                  <c:v>13000</c:v>
                </c:pt>
                <c:pt idx="3">
                  <c:v>2400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하버스카페 경쟁사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6E5"/>
                </a:solidFill>
                <a:latin typeface="맑은 고딕"/>
              </a:rPr>
              <a:t>성수동 스페셜티 카페 상권 · 시장조사 → 의사결정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9BD"/>
                </a:solidFill>
                <a:latin typeface="맑은 고딕"/>
              </a:rPr>
              <a:t>작성: 하버스카페 · 원천: competitors.md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반경 500m 내 스페셜티 카페 4곳 · 직장인·디자이너·프리랜서 상권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평균 아메리카노 4,700원 · 주말 나들이객 + 평일 작업 손님 공존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핵심 경쟁축: 시그니처 정체성 · 디저트 · 인스타 인지도 · 작업 환경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좌석·콘센트 기반 작업 환경은 우리의 명확한 우위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상권 공통 약점 = 피크타임 웨이팅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우리 VoC 리뷰 불만 1위(★2, 대기시간)와 정확히 겹침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경쟁사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카페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아메리카노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시그니처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인스타 팔로워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강점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약점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성수로스터스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5,000원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싱글오리진 핸드드립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9,400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원두 퀄리티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가격↑·좌석↓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데일리빈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4,000원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대용량 라떼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가성비·회전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디저트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스윗아워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4,800원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수제 디저트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13,000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디저트·인스타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A5F"/>
                          </a:solidFill>
                          <a:latin typeface="맑은 고딕"/>
                        </a:rPr>
                        <a:t>커피 평범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하버스카페(우리)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4,500원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흑임자 라떼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2,400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흑임자·작업·친절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맑은 고딕"/>
                        </a:rPr>
                        <a:t>인지도↓·웨이팅</a:t>
                      </a:r>
                    </a:p>
                  </a:txBody>
                  <a:tcPr>
                    <a:solidFill>
                      <a:srgbClr val="FBF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인스타 인지도 격차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맑은 고딕"/>
              </a:rPr>
              <a:t>우리 2,400 vs 스윗아워 13,000
인지도에서 상권 최저권.
인플루언서 협업으로
격차 축소가 시급.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우리 차별화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흑임자 라떼 시그니처 + 바스크 세트로 디저트 강자 C와 정면 대응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객단가↑ · 시그니처 정체성 강화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'조용한 작업 카페' 포지셔닝 전면화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콘센트·1인 바석·차분함 → A(좌석↓)·C(시끄러움) 약점 공략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맑은 고딕"/>
              </a:rPr>
              <a:t>•  인스타 인플루언서 협업으로 인지도 격차 축소</a:t>
            </a:r>
          </a:p>
          <a:p>
            <a:r>
              <a:rPr sz="1500">
                <a:solidFill>
                  <a:srgbClr val="7A7266"/>
                </a:solidFill>
                <a:latin typeface="맑은 고딕"/>
              </a:rPr>
              <a:t>     결 맞는 성수 감성/작업카페 인플루언서 3~5명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추천 액션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881360" cy="1280160"/>
          </a:xfrm>
          <a:prstGeom prst="rect">
            <a:avLst/>
          </a:prstGeom>
          <a:solidFill>
            <a:srgbClr val="FBF3E6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000" b="1">
                <a:solidFill>
                  <a:srgbClr val="B45309"/>
                </a:solidFill>
                <a:latin typeface="맑은 고딕"/>
              </a:rPr>
              <a:t>1. 디저트 세트 출시</a:t>
            </a:r>
          </a:p>
          <a:p>
            <a:r>
              <a:rPr sz="1400">
                <a:solidFill>
                  <a:srgbClr val="1F3A5F"/>
                </a:solidFill>
                <a:latin typeface="맑은 고딕"/>
              </a:rPr>
              <a:t>흑임자 라떼 + 바스크 세트 → 객단가↑, 디저트 강자 C 견제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017520"/>
            <a:ext cx="10881360" cy="1280160"/>
          </a:xfrm>
          <a:prstGeom prst="rect">
            <a:avLst/>
          </a:prstGeom>
          <a:solidFill>
            <a:srgbClr val="FBF3E6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000" b="1">
                <a:solidFill>
                  <a:srgbClr val="B45309"/>
                </a:solidFill>
                <a:latin typeface="맑은 고딕"/>
              </a:rPr>
              <a:t>2. 인플루언서 3~5명 협업</a:t>
            </a:r>
          </a:p>
          <a:p>
            <a:r>
              <a:rPr sz="1400">
                <a:solidFill>
                  <a:srgbClr val="1F3A5F"/>
                </a:solidFill>
                <a:latin typeface="맑은 고딕"/>
              </a:rPr>
              <a:t>인지도↑ (마케팅 예산 50만원 내 집행)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10881360" cy="1280160"/>
          </a:xfrm>
          <a:prstGeom prst="rect">
            <a:avLst/>
          </a:prstGeom>
          <a:solidFill>
            <a:srgbClr val="FBF3E6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000" b="1">
                <a:solidFill>
                  <a:srgbClr val="B45309"/>
                </a:solidFill>
                <a:latin typeface="맑은 고딕"/>
              </a:rPr>
              <a:t>3. 피크타임 대기·주문 동선 개선</a:t>
            </a:r>
          </a:p>
          <a:p>
            <a:r>
              <a:rPr sz="1400">
                <a:solidFill>
                  <a:srgbClr val="1F3A5F"/>
                </a:solidFill>
                <a:latin typeface="맑은 고딕"/>
              </a:rPr>
              <a:t>상권 공통 약점이자 VoC 불만 1위(대기시간) 해소 → 회전율·만족도↑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